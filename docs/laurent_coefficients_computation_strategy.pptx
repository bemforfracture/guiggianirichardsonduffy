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AF392B-0B40-44F8-BE12-986AC7D25528}" v="689" dt="2025-10-13T14:38:37.3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542AB-D77E-ACF3-623B-89BB078023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CB5CCA-8859-C783-AA3F-96E21DFA92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A9A98-050E-59BC-9886-2EF313DCA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20F72-C865-4541-9171-6BAA57104CE4}" type="datetimeFigureOut">
              <a:rPr lang="fr-FR" smtClean="0"/>
              <a:t>14/10/2025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C013B-A539-C272-0514-384E9AC30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57A8C-6C47-5054-0E01-6C4940A7D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FEA61-0D51-447C-8476-32987A1747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0170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EA4C8-C0DA-632A-BB76-E7BA8B5F9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C0E0A-EB57-C5AD-6AEC-BBA4F9596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80CF3-8108-BCD2-6EBA-AD15472C5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20F72-C865-4541-9171-6BAA57104CE4}" type="datetimeFigureOut">
              <a:rPr lang="fr-FR" smtClean="0"/>
              <a:t>14/10/2025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A8134-6B2A-84A3-7A2C-109A520EB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23425-F076-48C7-4E07-500C4255A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FEA61-0D51-447C-8476-32987A1747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1207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A4894-B12B-AF62-267B-DACC464C2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DDEA6-F2FA-2ACD-BC20-87D0FC8F4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B94B5-2C2A-8084-7650-C1BC29EFE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20F72-C865-4541-9171-6BAA57104CE4}" type="datetimeFigureOut">
              <a:rPr lang="fr-FR" smtClean="0"/>
              <a:t>14/10/2025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1CB60-C56B-615D-73A9-DE0F2CF75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343E1-1D39-39AA-A0E6-FEDE8E25B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FEA61-0D51-447C-8476-32987A1747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5520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C9B78-90CD-2B3C-8A61-A42C1833E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771B4-DC52-F7EF-1106-E253F886FB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32E878-034E-5D1B-0851-1D6D71DB9B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AF48E8-90DC-B073-8303-A5ED56241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20F72-C865-4541-9171-6BAA57104CE4}" type="datetimeFigureOut">
              <a:rPr lang="fr-FR" smtClean="0"/>
              <a:t>14/10/2025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142BF-7D31-2626-E839-C17165AC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950A1-5E10-BE69-1F99-B8517A52F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FEA61-0D51-447C-8476-32987A1747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5717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5649F-83B5-2C47-8308-0527B1302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BE157-0E95-41F9-767F-CBE3DB37F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8495CE-D70D-DDDA-1F31-2598E18FF2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F8688D-F559-AC52-E52C-0DBD996A1D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8B9179-9846-2F45-2453-99F2EFD0F5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0513C7-C172-313C-9820-F22A4AE10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20F72-C865-4541-9171-6BAA57104CE4}" type="datetimeFigureOut">
              <a:rPr lang="fr-FR" smtClean="0"/>
              <a:t>14/10/2025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C48A58-F3F8-CBBA-B3F5-BB0003D5F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C30877-578D-A49D-66AD-06546BA4B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FEA61-0D51-447C-8476-32987A1747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1956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969FC-9C91-899E-539D-4F85E92D5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A52C1C-6533-0444-69AF-DA8C84787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20F72-C865-4541-9171-6BAA57104CE4}" type="datetimeFigureOut">
              <a:rPr lang="fr-FR" smtClean="0"/>
              <a:t>14/10/2025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79589E-CE43-3573-E501-72D33A96F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827FB7-DEE8-6B26-F1F7-7D9551B3B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FEA61-0D51-447C-8476-32987A1747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1347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A2E00C-7055-1851-CB73-BF5B6D91B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20F72-C865-4541-9171-6BAA57104CE4}" type="datetimeFigureOut">
              <a:rPr lang="fr-FR" smtClean="0"/>
              <a:t>14/10/2025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095FBC-4A98-70A2-3F85-33626D70C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018A8-4C89-36F0-AE6C-30BA1B891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FEA61-0D51-447C-8476-32987A1747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1860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A5D9B-3590-0355-5E53-7F3D78890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5FFFD-E815-7E33-4F17-EB0B3E7EB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D16C32-0494-8E51-11B1-4FF4B3AB3A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D35902-9507-0171-EEB5-0468A337E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20F72-C865-4541-9171-6BAA57104CE4}" type="datetimeFigureOut">
              <a:rPr lang="fr-FR" smtClean="0"/>
              <a:t>14/10/2025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E2EE4-8576-9BB4-E7C1-5EDF3AF46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1D6FF-C41C-B395-5937-74D0CCE3B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FEA61-0D51-447C-8476-32987A1747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73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BF5E1-CA91-6E9B-AB97-8361E6A63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49A4B5-D81C-BB55-D0C7-C7DCC4054D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24FCBA-4B17-1BC8-F177-3247A9571F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9F632C-4C48-29F2-F591-3C15B8DD3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20F72-C865-4541-9171-6BAA57104CE4}" type="datetimeFigureOut">
              <a:rPr lang="fr-FR" smtClean="0"/>
              <a:t>14/10/2025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9F63F-33FB-C1C4-6913-6AFE99415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46418-958C-D4F4-1E08-FC2571336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FEA61-0D51-447C-8476-32987A1747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990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8C0B5-C49D-3E6D-786E-5B4B08295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35896-E4F5-7728-C7F4-E82C7320A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8ECB1-3D93-753B-6458-7A657D7E0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20F72-C865-4541-9171-6BAA57104CE4}" type="datetimeFigureOut">
              <a:rPr lang="fr-FR" smtClean="0"/>
              <a:t>14/10/2025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FDCF9-DB9D-CA5E-53A9-54BE53A50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B3C62-C76C-39B2-9E7E-2C034D963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FEA61-0D51-447C-8476-32987A1747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7603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CABF31-0CCF-A001-2600-5ED7ECBADD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316951-F03B-1A0F-5A42-931A8F1B39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1BC63-8504-5C16-D165-B6AB208A7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20F72-C865-4541-9171-6BAA57104CE4}" type="datetimeFigureOut">
              <a:rPr lang="fr-FR" smtClean="0"/>
              <a:t>14/10/2025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8A6D3-0474-6672-1031-1CCB69A23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941E6-75C5-AAC8-70F7-B271C4045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FEA61-0D51-447C-8476-32987A1747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7136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41F8F9-FE23-F3A4-F845-0A0DD48D4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9B1CE-FC0C-88F6-0672-9580CE8DD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222F0-DBEA-7B39-7E6F-4821E418A3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020F72-C865-4541-9171-6BAA57104CE4}" type="datetimeFigureOut">
              <a:rPr lang="fr-FR" smtClean="0"/>
              <a:t>14/10/2025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8A6CB-D8A1-7A30-46B9-B54791BEFF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B4A59-94ED-3B8E-4B28-697EEC27EB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EFEA61-0D51-447C-8476-32987A1747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102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FCFF481-C60B-2EE6-4366-5C3733C383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9528830"/>
                  </p:ext>
                </p:extLst>
              </p:nvPr>
            </p:nvGraphicFramePr>
            <p:xfrm>
              <a:off x="544286" y="359229"/>
              <a:ext cx="11277600" cy="37417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85554">
                      <a:extLst>
                        <a:ext uri="{9D8B030D-6E8A-4147-A177-3AD203B41FA5}">
                          <a16:colId xmlns:a16="http://schemas.microsoft.com/office/drawing/2014/main" val="1331188831"/>
                        </a:ext>
                      </a:extLst>
                    </a:gridCol>
                    <a:gridCol w="2824480">
                      <a:extLst>
                        <a:ext uri="{9D8B030D-6E8A-4147-A177-3AD203B41FA5}">
                          <a16:colId xmlns:a16="http://schemas.microsoft.com/office/drawing/2014/main" val="3042512374"/>
                        </a:ext>
                      </a:extLst>
                    </a:gridCol>
                    <a:gridCol w="3637280">
                      <a:extLst>
                        <a:ext uri="{9D8B030D-6E8A-4147-A177-3AD203B41FA5}">
                          <a16:colId xmlns:a16="http://schemas.microsoft.com/office/drawing/2014/main" val="2375503670"/>
                        </a:ext>
                      </a:extLst>
                    </a:gridCol>
                    <a:gridCol w="2830286">
                      <a:extLst>
                        <a:ext uri="{9D8B030D-6E8A-4147-A177-3AD203B41FA5}">
                          <a16:colId xmlns:a16="http://schemas.microsoft.com/office/drawing/2014/main" val="3408653451"/>
                        </a:ext>
                      </a:extLst>
                    </a:gridCol>
                  </a:tblGrid>
                  <a:tr h="656771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100% analytique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Semi-analytique (niveau 2)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dirty="0"/>
                            <a:t>Semi-analytique (niveau 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100% numérique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50410384"/>
                      </a:ext>
                    </a:extLst>
                  </a:tr>
                  <a:tr h="300445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=…</m:t>
                                </m:r>
                              </m:oMath>
                            </m:oMathPara>
                          </a14:m>
                          <a:endParaRPr lang="fr-FR" b="0" i="1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)=…</m:t>
                                </m:r>
                              </m:oMath>
                            </m:oMathPara>
                          </a14:m>
                          <a:endParaRPr lang="fr-FR" b="0" i="1" dirty="0"/>
                        </a:p>
                        <a:p>
                          <a:endParaRPr lang="fr-FR" dirty="0"/>
                        </a:p>
                        <a:p>
                          <a:pPr algn="ctr"/>
                          <a:r>
                            <a:rPr lang="fr-FR" sz="1600" dirty="0"/>
                            <a:t>Calculés en forme close pour un nombre fini de noyaux </a:t>
                          </a:r>
                          <a:r>
                            <a:rPr lang="fr-FR" sz="1600" dirty="0">
                              <a:sym typeface="Wingdings" panose="05000000000000000000" pitchFamily="2" charset="2"/>
                            </a:rPr>
                            <a:t> servent de référence pour la convergence et la précision</a:t>
                          </a:r>
                          <a:endParaRPr lang="fr-FR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On connait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</m:acc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fr-FR" i="1" dirty="0"/>
                            <a:t> </a:t>
                          </a:r>
                          <a:r>
                            <a:rPr lang="fr-FR" i="0" dirty="0"/>
                            <a:t>: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fr-FR" i="0" dirty="0"/>
                            <a:t>On calcule directement en fonction de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</m:acc>
                            </m:oMath>
                          </a14:m>
                          <a:endParaRPr lang="fr-FR" i="0" dirty="0"/>
                        </a:p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fr-FR" dirty="0"/>
                            <a:t>On extrapole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fr-FR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kumimoji="0" lang="fr-FR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fr-FR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0" lang="fr-FR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kumimoji="0" lang="fr-FR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r>
                                <a:rPr kumimoji="0" lang="fr-FR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𝜃</m:t>
                              </m:r>
                              <m:r>
                                <a:rPr kumimoji="0" lang="fr-FR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</m:t>
                              </m:r>
                            </m:oMath>
                          </a14:m>
                          <a:endParaRPr lang="fr-FR" dirty="0"/>
                        </a:p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On connait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</m:acc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fr-FR" i="1" dirty="0"/>
                            <a:t> </a:t>
                          </a:r>
                          <a:r>
                            <a:rPr lang="fr-FR" i="0" dirty="0"/>
                            <a:t>: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fr-FR" i="0" dirty="0"/>
                            <a:t>On définit </a:t>
                          </a:r>
                          <a14:m>
                            <m:oMath xmlns:m="http://schemas.openxmlformats.org/officeDocument/2006/math"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ℱ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ρ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sSup>
                                <m:s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ρ</m:t>
                                  </m:r>
                                </m:e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acc>
                                <m:accPr>
                                  <m:chr m:val="̂"/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</m:acc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fr-FR" i="1" dirty="0"/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ℱ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(0, 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fr-FR" i="1" dirty="0"/>
                        </a:p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fr-FR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kumimoji="0" lang="fr-FR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fr-FR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0" lang="fr-FR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kumimoji="0" lang="fr-FR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r>
                                <a:rPr kumimoji="0" lang="fr-FR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𝜃</m:t>
                              </m:r>
                              <m:r>
                                <a:rPr kumimoji="0" lang="fr-FR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)=</m:t>
                              </m:r>
                              <m:sSub>
                                <m:sSubPr>
                                  <m:ctrlPr>
                                    <a:rPr kumimoji="0" lang="fr-FR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"/>
                                      <m:endChr m:val="|"/>
                                      <m:ctrlPr>
                                        <a:rPr kumimoji="0" lang="fr-FR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kumimoji="0" lang="fr-FR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kumimoji="0" lang="fr-FR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𝜕</m:t>
                                          </m:r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ℱ</m:t>
                                          </m:r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num>
                                        <m:den>
                                          <m:r>
                                            <a:rPr kumimoji="0" lang="fr-FR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𝜕𝜌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b>
                                  <m:r>
                                    <a:rPr kumimoji="0" lang="fr-FR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𝜌</m:t>
                                  </m:r>
                                  <m:r>
                                    <a:rPr kumimoji="0" lang="fr-FR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=0</m:t>
                                  </m:r>
                                </m:sub>
                              </m:sSub>
                            </m:oMath>
                          </a14:m>
                          <a:endParaRPr lang="fr-FR" i="1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fr-FR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fr-F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kumimoji="0" lang="fr-FR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0" lang="fr-FR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kumimoji="0" lang="fr-F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−2</m:t>
                                    </m:r>
                                  </m:sub>
                                </m:sSub>
                                <m:r>
                                  <a:rPr kumimoji="0" lang="fr-FR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fr-FR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𝜃</m:t>
                                </m:r>
                                <m:r>
                                  <a:rPr kumimoji="0" lang="fr-FR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)=</m:t>
                                </m:r>
                                <m:func>
                                  <m:funcPr>
                                    <m:ctrlPr>
                                      <a:rPr kumimoji="0" lang="fr-F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kumimoji="0" lang="fr-FR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kumimoji="0" lang="fr-FR" sz="1400" b="0" i="0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lim</m:t>
                                        </m:r>
                                      </m:e>
                                      <m:lim>
                                        <m:r>
                                          <a:rPr kumimoji="0" lang="fr-FR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𝜌</m:t>
                                        </m:r>
                                        <m:r>
                                          <a:rPr kumimoji="0" lang="fr-FR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→0</m:t>
                                        </m:r>
                                      </m:lim>
                                    </m:limLow>
                                  </m:fName>
                                  <m:e>
                                    <m:r>
                                      <a:rPr kumimoji="0" lang="fr-F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𝐹</m:t>
                                    </m:r>
                                  </m:e>
                                </m:func>
                                <m:d>
                                  <m:dPr>
                                    <m:ctrlPr>
                                      <a:rPr kumimoji="0" lang="fr-F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fr-F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𝜌</m:t>
                                    </m:r>
                                    <m:r>
                                      <a:rPr kumimoji="0" lang="fr-F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,</m:t>
                                    </m:r>
                                    <m:r>
                                      <a:rPr kumimoji="0" lang="fr-F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𝜃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kumimoji="0" lang="fr-F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fr-F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𝜌</m:t>
                                    </m:r>
                                  </m:e>
                                  <m:sup>
                                    <m:r>
                                      <a:rPr kumimoji="0" lang="fr-F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0" lang="fr-FR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MU Sans Serif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fr-F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kumimoji="0" lang="fr-FR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0" lang="fr-FR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kumimoji="0" lang="fr-F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kumimoji="0" lang="fr-FR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fr-FR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𝜃</m:t>
                                </m:r>
                                <m:r>
                                  <a:rPr kumimoji="0" lang="fr-FR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)=</m:t>
                                </m:r>
                                <m:func>
                                  <m:funcPr>
                                    <m:ctrlPr>
                                      <a:rPr kumimoji="0" lang="fr-F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kumimoji="0" lang="fr-FR" sz="14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kumimoji="0" lang="fr-FR" sz="1400" b="0" i="0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lim</m:t>
                                        </m:r>
                                      </m:e>
                                      <m:lim>
                                        <m:r>
                                          <a:rPr kumimoji="0" lang="fr-FR" sz="14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𝜌</m:t>
                                        </m:r>
                                        <m:r>
                                          <a:rPr kumimoji="0" lang="fr-FR" sz="14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→0</m:t>
                                        </m:r>
                                      </m:lim>
                                    </m:limLow>
                                  </m:fName>
                                  <m:e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kumimoji="0" lang="fr-FR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fr-FR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𝜌</m:t>
                                        </m:r>
                                        <m:r>
                                          <a:rPr kumimoji="0" lang="fr-FR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𝐹</m:t>
                                        </m:r>
                                        <m:d>
                                          <m:dPr>
                                            <m:ctrlPr>
                                              <a:rPr kumimoji="0" lang="fr-FR" sz="14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kumimoji="0" lang="fr-FR" sz="14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𝜌</m:t>
                                            </m:r>
                                            <m:r>
                                              <a:rPr kumimoji="0" lang="fr-FR" sz="14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,</m:t>
                                            </m:r>
                                            <m:r>
                                              <a:rPr kumimoji="0" lang="fr-FR" sz="14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𝜃</m:t>
                                            </m:r>
                                          </m:e>
                                        </m:d>
                                        <m:r>
                                          <a:rPr kumimoji="0" lang="fr-FR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−</m:t>
                                        </m:r>
                                        <m:f>
                                          <m:fPr>
                                            <m:ctrlPr>
                                              <a:rPr kumimoji="0" lang="fr-FR" sz="14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kumimoji="0" lang="fr-FR" sz="14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̃"/>
                                                    <m:ctrlPr>
                                                      <a:rPr kumimoji="0" lang="fr-FR" sz="1400" b="0" i="1" u="none" strike="noStrike" kern="1200" cap="none" spc="0" normalizeH="0" baseline="0" noProof="0" smtClean="0">
                                                        <a:ln>
                                                          <a:noFill/>
                                                        </a:ln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uLnTx/>
                                                        <a:uFillTx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kumimoji="0" lang="fr-FR" sz="1400" b="0" i="1" u="none" strike="noStrike" kern="1200" cap="none" spc="0" normalizeH="0" baseline="0" noProof="0" smtClean="0">
                                                        <a:ln>
                                                          <a:noFill/>
                                                        </a:ln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uLnTx/>
                                                        <a:uFillTx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  <m:t>𝐹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kumimoji="0" lang="fr-FR" sz="14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−2</m:t>
                                                </m:r>
                                              </m:sub>
                                            </m:sSub>
                                            <m:r>
                                              <a:rPr kumimoji="0" lang="fr-FR" sz="14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(</m:t>
                                            </m:r>
                                            <m:r>
                                              <a:rPr kumimoji="0" lang="fr-FR" sz="14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𝜃</m:t>
                                            </m:r>
                                            <m:r>
                                              <a:rPr kumimoji="0" lang="fr-FR" sz="14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)</m:t>
                                            </m:r>
                                          </m:num>
                                          <m:den>
                                            <m:r>
                                              <a:rPr kumimoji="0" lang="fr-FR" sz="14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𝜌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Utilisation de l’extrapolation de Richardson complète pour les deux coefficients : à éviter, mais méthode par défaut si l’on ne sait rien d’autre sur le noyau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01333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FCFF481-C60B-2EE6-4366-5C3733C383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9528830"/>
                  </p:ext>
                </p:extLst>
              </p:nvPr>
            </p:nvGraphicFramePr>
            <p:xfrm>
              <a:off x="544286" y="359229"/>
              <a:ext cx="11277600" cy="37417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85554">
                      <a:extLst>
                        <a:ext uri="{9D8B030D-6E8A-4147-A177-3AD203B41FA5}">
                          <a16:colId xmlns:a16="http://schemas.microsoft.com/office/drawing/2014/main" val="1331188831"/>
                        </a:ext>
                      </a:extLst>
                    </a:gridCol>
                    <a:gridCol w="2824480">
                      <a:extLst>
                        <a:ext uri="{9D8B030D-6E8A-4147-A177-3AD203B41FA5}">
                          <a16:colId xmlns:a16="http://schemas.microsoft.com/office/drawing/2014/main" val="3042512374"/>
                        </a:ext>
                      </a:extLst>
                    </a:gridCol>
                    <a:gridCol w="3637280">
                      <a:extLst>
                        <a:ext uri="{9D8B030D-6E8A-4147-A177-3AD203B41FA5}">
                          <a16:colId xmlns:a16="http://schemas.microsoft.com/office/drawing/2014/main" val="2375503670"/>
                        </a:ext>
                      </a:extLst>
                    </a:gridCol>
                    <a:gridCol w="2830286">
                      <a:extLst>
                        <a:ext uri="{9D8B030D-6E8A-4147-A177-3AD203B41FA5}">
                          <a16:colId xmlns:a16="http://schemas.microsoft.com/office/drawing/2014/main" val="3408653451"/>
                        </a:ext>
                      </a:extLst>
                    </a:gridCol>
                  </a:tblGrid>
                  <a:tr h="656771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100% analytique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Semi-analytique (niveau 2)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dirty="0"/>
                            <a:t>Semi-analytique (niveau 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100% numérique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50410384"/>
                      </a:ext>
                    </a:extLst>
                  </a:tr>
                  <a:tr h="3084957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07" t="-22091" r="-469018" b="-3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70626" t="-22091" r="-230238" b="-3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32328" t="-22091" r="-78559" b="-3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98280" t="-22091" r="-860" b="-3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01333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8688364-1D12-4CBB-0B0F-1EAAA4C18C63}"/>
                  </a:ext>
                </a:extLst>
              </p:cNvPr>
              <p:cNvSpPr txBox="1"/>
              <p:nvPr/>
            </p:nvSpPr>
            <p:spPr>
              <a:xfrm>
                <a:off x="4135120" y="4663440"/>
                <a:ext cx="6644640" cy="1722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ℱ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d>
                                    <m:d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ρ</m:t>
                                      </m:r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θ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acc>
                        <m:accPr>
                          <m:chr m:val="̂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acc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</m:d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  <m:d>
                                <m:d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fr-FR" b="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𝑨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ρ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𝝉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)⋅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)+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²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𝝉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)+…</m:t>
                      </m:r>
                    </m:oMath>
                  </m:oMathPara>
                </a14:m>
                <a:endParaRPr lang="fr-FR" i="1" dirty="0"/>
              </a:p>
              <a:p>
                <a:endParaRPr lang="fr-FR" i="1" dirty="0"/>
              </a:p>
              <a:p>
                <a:r>
                  <a:rPr lang="fr-FR" i="1" dirty="0"/>
                  <a:t>NB (utile ?)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b="0" i="1" smtClean="0">
                        <a:latin typeface="Cambria Math" panose="02040503050406030204" pitchFamily="18" charset="0"/>
                      </a:rPr>
                      <m:t>K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𝑨</m:t>
                        </m:r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fr-FR" i="1">
                                <a:latin typeface="Cambria Math" panose="02040503050406030204" pitchFamily="18" charset="0"/>
                              </a:rPr>
                              <m:t>ρ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fr-FR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𝒱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b="1" i="1"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fr-FR" i="1">
                            <a:latin typeface="Cambria Math" panose="02040503050406030204" pitchFamily="18" charset="0"/>
                          </a:rPr>
                          <m:t>ρ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fr-FR" i="1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i="1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8688364-1D12-4CBB-0B0F-1EAAA4C18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120" y="4663440"/>
                <a:ext cx="6644640" cy="1722331"/>
              </a:xfrm>
              <a:prstGeom prst="rect">
                <a:avLst/>
              </a:prstGeom>
              <a:blipFill>
                <a:blip r:embed="rId3"/>
                <a:stretch>
                  <a:fillRect l="-734" b="-424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eft Brace 5">
            <a:extLst>
              <a:ext uri="{FF2B5EF4-FFF2-40B4-BE49-F238E27FC236}">
                <a16:creationId xmlns:a16="http://schemas.microsoft.com/office/drawing/2014/main" id="{EC0B6AF0-C39B-B24F-9D84-6C93ABC657CF}"/>
              </a:ext>
            </a:extLst>
          </p:cNvPr>
          <p:cNvSpPr/>
          <p:nvPr/>
        </p:nvSpPr>
        <p:spPr>
          <a:xfrm rot="16200000">
            <a:off x="7060533" y="2508853"/>
            <a:ext cx="235014" cy="358648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A8797-D3B9-6861-C096-172AF7475CFE}"/>
              </a:ext>
            </a:extLst>
          </p:cNvPr>
          <p:cNvSpPr txBox="1"/>
          <p:nvPr/>
        </p:nvSpPr>
        <p:spPr>
          <a:xfrm>
            <a:off x="6694714" y="2648686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dérivation numérique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20413628-E337-4F84-F688-1C8B9FA60484}"/>
              </a:ext>
            </a:extLst>
          </p:cNvPr>
          <p:cNvCxnSpPr>
            <a:endCxn id="2" idx="1"/>
          </p:cNvCxnSpPr>
          <p:nvPr/>
        </p:nvCxnSpPr>
        <p:spPr>
          <a:xfrm>
            <a:off x="5943600" y="2438400"/>
            <a:ext cx="751114" cy="533452"/>
          </a:xfrm>
          <a:prstGeom prst="bentConnector3">
            <a:avLst>
              <a:gd name="adj1" fmla="val 217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161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54946-B5EF-0E9A-5FCE-0FC4B88C6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808CACD-E206-E194-7DF0-CBC799312F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7998277"/>
                  </p:ext>
                </p:extLst>
              </p:nvPr>
            </p:nvGraphicFramePr>
            <p:xfrm>
              <a:off x="544286" y="359229"/>
              <a:ext cx="11277600" cy="37417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85554">
                      <a:extLst>
                        <a:ext uri="{9D8B030D-6E8A-4147-A177-3AD203B41FA5}">
                          <a16:colId xmlns:a16="http://schemas.microsoft.com/office/drawing/2014/main" val="1331188831"/>
                        </a:ext>
                      </a:extLst>
                    </a:gridCol>
                    <a:gridCol w="2824480">
                      <a:extLst>
                        <a:ext uri="{9D8B030D-6E8A-4147-A177-3AD203B41FA5}">
                          <a16:colId xmlns:a16="http://schemas.microsoft.com/office/drawing/2014/main" val="3042512374"/>
                        </a:ext>
                      </a:extLst>
                    </a:gridCol>
                    <a:gridCol w="3637280">
                      <a:extLst>
                        <a:ext uri="{9D8B030D-6E8A-4147-A177-3AD203B41FA5}">
                          <a16:colId xmlns:a16="http://schemas.microsoft.com/office/drawing/2014/main" val="2375503670"/>
                        </a:ext>
                      </a:extLst>
                    </a:gridCol>
                    <a:gridCol w="2830286">
                      <a:extLst>
                        <a:ext uri="{9D8B030D-6E8A-4147-A177-3AD203B41FA5}">
                          <a16:colId xmlns:a16="http://schemas.microsoft.com/office/drawing/2014/main" val="3408653451"/>
                        </a:ext>
                      </a:extLst>
                    </a:gridCol>
                  </a:tblGrid>
                  <a:tr h="656771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100% analytique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Semi-analytique (niveau 2)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dirty="0"/>
                            <a:t>Semi-analytique (niveau 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100% numérique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50410384"/>
                      </a:ext>
                    </a:extLst>
                  </a:tr>
                  <a:tr h="300445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=…</m:t>
                                </m:r>
                              </m:oMath>
                            </m:oMathPara>
                          </a14:m>
                          <a:endParaRPr lang="fr-FR" b="0" i="1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)=…</m:t>
                                </m:r>
                              </m:oMath>
                            </m:oMathPara>
                          </a14:m>
                          <a:endParaRPr lang="fr-FR" b="0" i="1" dirty="0"/>
                        </a:p>
                        <a:p>
                          <a:endParaRPr lang="fr-FR" dirty="0"/>
                        </a:p>
                        <a:p>
                          <a:pPr algn="ctr"/>
                          <a:r>
                            <a:rPr lang="fr-FR" sz="1600" dirty="0"/>
                            <a:t>Calculés en forme close pour un nombre fini de noyaux </a:t>
                          </a:r>
                          <a:r>
                            <a:rPr lang="fr-FR" sz="1600" dirty="0">
                              <a:sym typeface="Wingdings" panose="05000000000000000000" pitchFamily="2" charset="2"/>
                            </a:rPr>
                            <a:t> servent de référence pour la convergence et la précision</a:t>
                          </a:r>
                          <a:endParaRPr lang="fr-FR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On connait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</m:acc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fr-FR" i="1" dirty="0"/>
                            <a:t> </a:t>
                          </a:r>
                          <a:r>
                            <a:rPr lang="fr-FR" i="0" dirty="0"/>
                            <a:t>: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fr-FR" i="0" dirty="0"/>
                            <a:t>On calcule directement en fonction de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</m:acc>
                            </m:oMath>
                          </a14:m>
                          <a:endParaRPr lang="fr-FR" i="0" dirty="0"/>
                        </a:p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fr-FR" dirty="0"/>
                            <a:t>On extrapole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fr-FR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kumimoji="0" lang="fr-FR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fr-FR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0" lang="fr-FR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kumimoji="0" lang="fr-FR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r>
                                <a:rPr kumimoji="0" lang="fr-FR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𝜃</m:t>
                              </m:r>
                              <m:r>
                                <a:rPr kumimoji="0" lang="fr-FR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</m:t>
                              </m:r>
                            </m:oMath>
                          </a14:m>
                          <a:endParaRPr lang="fr-FR" dirty="0"/>
                        </a:p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endParaRPr lang="fr-FR" dirty="0"/>
                        </a:p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On connait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</m:acc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fr-FR" i="1" dirty="0"/>
                            <a:t> </a:t>
                          </a:r>
                          <a:r>
                            <a:rPr lang="fr-FR" i="0" dirty="0"/>
                            <a:t>: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fr-FR" i="0" dirty="0"/>
                            <a:t>On définit </a:t>
                          </a:r>
                          <a14:m>
                            <m:oMath xmlns:m="http://schemas.openxmlformats.org/officeDocument/2006/math"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ℱ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ρ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sSup>
                                <m:s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ρ</m:t>
                                  </m:r>
                                </m:e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acc>
                                <m:accPr>
                                  <m:chr m:val="̂"/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</m:acc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fr-FR" i="1" dirty="0"/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ℱ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(0, 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fr-FR" i="1" dirty="0"/>
                        </a:p>
                        <a:p>
                          <a:pPr marL="285750" marR="0" lvl="0" indent="-28575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fr-FR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kumimoji="0" lang="fr-FR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fr-FR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0" lang="fr-FR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kumimoji="0" lang="fr-FR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r>
                                <a:rPr kumimoji="0" lang="fr-FR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𝜃</m:t>
                              </m:r>
                              <m:r>
                                <a:rPr kumimoji="0" lang="fr-FR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)=</m:t>
                              </m:r>
                              <m:sSub>
                                <m:sSubPr>
                                  <m:ctrlPr>
                                    <a:rPr kumimoji="0" lang="fr-FR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"/>
                                      <m:endChr m:val="|"/>
                                      <m:ctrlPr>
                                        <a:rPr kumimoji="0" lang="fr-FR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kumimoji="0" lang="fr-FR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kumimoji="0" lang="fr-FR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𝜕</m:t>
                                          </m:r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ℱ</m:t>
                                          </m:r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ρ</m:t>
                                          </m:r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num>
                                        <m:den>
                                          <m:r>
                                            <a:rPr kumimoji="0" lang="fr-FR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𝜕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kumimoji="0" lang="fr-FR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ρ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0" lang="fr-FR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ρ</m:t>
                                  </m:r>
                                  <m:r>
                                    <a:rPr kumimoji="0" lang="fr-FR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=0</m:t>
                                  </m:r>
                                </m:sub>
                              </m:sSub>
                            </m:oMath>
                          </a14:m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fr-FR" i="1" dirty="0"/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fr-FR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fr-F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kumimoji="0" lang="fr-FR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0" lang="fr-FR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kumimoji="0" lang="fr-F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−2</m:t>
                                    </m:r>
                                  </m:sub>
                                </m:sSub>
                                <m:r>
                                  <a:rPr kumimoji="0" lang="fr-FR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fr-FR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𝜃</m:t>
                                </m:r>
                                <m:r>
                                  <a:rPr kumimoji="0" lang="fr-FR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)=</m:t>
                                </m:r>
                                <m:func>
                                  <m:funcPr>
                                    <m:ctrlPr>
                                      <a:rPr kumimoji="0" lang="fr-F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kumimoji="0" lang="fr-FR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kumimoji="0" lang="fr-FR" sz="1400" b="0" i="0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lim</m:t>
                                        </m:r>
                                      </m:e>
                                      <m:lim>
                                        <m:r>
                                          <a:rPr kumimoji="0" lang="fr-FR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𝜌</m:t>
                                        </m:r>
                                        <m:r>
                                          <a:rPr kumimoji="0" lang="fr-FR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→0</m:t>
                                        </m:r>
                                      </m:lim>
                                    </m:limLow>
                                  </m:fName>
                                  <m:e>
                                    <m:r>
                                      <a:rPr kumimoji="0" lang="fr-F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𝐹</m:t>
                                    </m:r>
                                  </m:e>
                                </m:func>
                                <m:d>
                                  <m:dPr>
                                    <m:ctrlPr>
                                      <a:rPr kumimoji="0" lang="fr-F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fr-F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𝜌</m:t>
                                    </m:r>
                                    <m:r>
                                      <a:rPr kumimoji="0" lang="fr-F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,</m:t>
                                    </m:r>
                                    <m:r>
                                      <a:rPr kumimoji="0" lang="fr-F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𝜃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kumimoji="0" lang="fr-F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fr-F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𝜌</m:t>
                                    </m:r>
                                  </m:e>
                                  <m:sup>
                                    <m:r>
                                      <a:rPr kumimoji="0" lang="fr-F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0" lang="fr-FR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MU Sans Serif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fr-F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kumimoji="0" lang="fr-FR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0" lang="fr-FR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kumimoji="0" lang="fr-F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kumimoji="0" lang="fr-FR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fr-FR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𝜃</m:t>
                                </m:r>
                                <m:r>
                                  <a:rPr kumimoji="0" lang="fr-FR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)=</m:t>
                                </m:r>
                                <m:func>
                                  <m:funcPr>
                                    <m:ctrlPr>
                                      <a:rPr kumimoji="0" lang="fr-FR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kumimoji="0" lang="fr-FR" sz="14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kumimoji="0" lang="fr-FR" sz="1400" b="0" i="0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lim</m:t>
                                        </m:r>
                                      </m:e>
                                      <m:lim>
                                        <m:r>
                                          <a:rPr kumimoji="0" lang="fr-FR" sz="14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𝜌</m:t>
                                        </m:r>
                                        <m:r>
                                          <a:rPr kumimoji="0" lang="fr-FR" sz="14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→0</m:t>
                                        </m:r>
                                      </m:lim>
                                    </m:limLow>
                                  </m:fName>
                                  <m:e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kumimoji="0" lang="fr-FR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fr-FR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𝜌</m:t>
                                        </m:r>
                                        <m:r>
                                          <a:rPr kumimoji="0" lang="fr-FR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𝐹</m:t>
                                        </m:r>
                                        <m:d>
                                          <m:dPr>
                                            <m:ctrlPr>
                                              <a:rPr kumimoji="0" lang="fr-FR" sz="14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kumimoji="0" lang="fr-FR" sz="14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𝜌</m:t>
                                            </m:r>
                                            <m:r>
                                              <a:rPr kumimoji="0" lang="fr-FR" sz="14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,</m:t>
                                            </m:r>
                                            <m:r>
                                              <a:rPr kumimoji="0" lang="fr-FR" sz="14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𝜃</m:t>
                                            </m:r>
                                          </m:e>
                                        </m:d>
                                        <m:r>
                                          <a:rPr kumimoji="0" lang="fr-FR" sz="1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−</m:t>
                                        </m:r>
                                        <m:f>
                                          <m:fPr>
                                            <m:ctrlPr>
                                              <a:rPr kumimoji="0" lang="fr-FR" sz="14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kumimoji="0" lang="fr-FR" sz="14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̃"/>
                                                    <m:ctrlPr>
                                                      <a:rPr kumimoji="0" lang="fr-FR" sz="1400" b="0" i="1" u="none" strike="noStrike" kern="1200" cap="none" spc="0" normalizeH="0" baseline="0" noProof="0" smtClean="0">
                                                        <a:ln>
                                                          <a:noFill/>
                                                        </a:ln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uLnTx/>
                                                        <a:uFillTx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kumimoji="0" lang="fr-FR" sz="1400" b="0" i="1" u="none" strike="noStrike" kern="1200" cap="none" spc="0" normalizeH="0" baseline="0" noProof="0" smtClean="0">
                                                        <a:ln>
                                                          <a:noFill/>
                                                        </a:ln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effectLst/>
                                                        <a:uLnTx/>
                                                        <a:uFillTx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  <m:t>𝐹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kumimoji="0" lang="fr-FR" sz="14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schemeClr val="tx1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−2</m:t>
                                                </m:r>
                                              </m:sub>
                                            </m:sSub>
                                            <m:r>
                                              <a:rPr kumimoji="0" lang="fr-FR" sz="14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(</m:t>
                                            </m:r>
                                            <m:r>
                                              <a:rPr kumimoji="0" lang="fr-FR" sz="14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𝜃</m:t>
                                            </m:r>
                                            <m:r>
                                              <a:rPr kumimoji="0" lang="fr-FR" sz="14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)</m:t>
                                            </m:r>
                                          </m:num>
                                          <m:den>
                                            <m:r>
                                              <a:rPr kumimoji="0" lang="fr-FR" sz="14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chemeClr val="tx1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𝜌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Utilisation de l’extrapolation de Richardson complète pour les deux coefficients : à éviter, mais méthode par défaut si l’on ne sait rien d’autre sur le noyau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01333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808CACD-E206-E194-7DF0-CBC799312F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7998277"/>
                  </p:ext>
                </p:extLst>
              </p:nvPr>
            </p:nvGraphicFramePr>
            <p:xfrm>
              <a:off x="544286" y="359229"/>
              <a:ext cx="11277600" cy="37417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85554">
                      <a:extLst>
                        <a:ext uri="{9D8B030D-6E8A-4147-A177-3AD203B41FA5}">
                          <a16:colId xmlns:a16="http://schemas.microsoft.com/office/drawing/2014/main" val="1331188831"/>
                        </a:ext>
                      </a:extLst>
                    </a:gridCol>
                    <a:gridCol w="2824480">
                      <a:extLst>
                        <a:ext uri="{9D8B030D-6E8A-4147-A177-3AD203B41FA5}">
                          <a16:colId xmlns:a16="http://schemas.microsoft.com/office/drawing/2014/main" val="3042512374"/>
                        </a:ext>
                      </a:extLst>
                    </a:gridCol>
                    <a:gridCol w="3637280">
                      <a:extLst>
                        <a:ext uri="{9D8B030D-6E8A-4147-A177-3AD203B41FA5}">
                          <a16:colId xmlns:a16="http://schemas.microsoft.com/office/drawing/2014/main" val="2375503670"/>
                        </a:ext>
                      </a:extLst>
                    </a:gridCol>
                    <a:gridCol w="2830286">
                      <a:extLst>
                        <a:ext uri="{9D8B030D-6E8A-4147-A177-3AD203B41FA5}">
                          <a16:colId xmlns:a16="http://schemas.microsoft.com/office/drawing/2014/main" val="3408653451"/>
                        </a:ext>
                      </a:extLst>
                    </a:gridCol>
                  </a:tblGrid>
                  <a:tr h="656771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100% analytique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Semi-analytique (niveau 2)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dirty="0"/>
                            <a:t>Semi-analytique (niveau 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100% numérique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50410384"/>
                      </a:ext>
                    </a:extLst>
                  </a:tr>
                  <a:tr h="3084957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07" t="-22091" r="-469018" b="-3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70626" t="-22091" r="-230238" b="-3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32328" t="-22091" r="-78559" b="-3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98280" t="-22091" r="-860" b="-3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013334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Left Brace 2">
            <a:extLst>
              <a:ext uri="{FF2B5EF4-FFF2-40B4-BE49-F238E27FC236}">
                <a16:creationId xmlns:a16="http://schemas.microsoft.com/office/drawing/2014/main" id="{DAB9A57A-3E17-1B84-2451-90C1691BD9B8}"/>
              </a:ext>
            </a:extLst>
          </p:cNvPr>
          <p:cNvSpPr/>
          <p:nvPr/>
        </p:nvSpPr>
        <p:spPr>
          <a:xfrm rot="16200000">
            <a:off x="3839813" y="2854293"/>
            <a:ext cx="214694" cy="287528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7C895B-3A0C-A3CA-5023-BFFA2FC08B70}"/>
                  </a:ext>
                </a:extLst>
              </p:cNvPr>
              <p:cNvSpPr txBox="1"/>
              <p:nvPr/>
            </p:nvSpPr>
            <p:spPr>
              <a:xfrm>
                <a:off x="1259840" y="4663440"/>
                <a:ext cx="5019040" cy="13927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d>
                                    <m:d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acc>
                        <m:accPr>
                          <m:chr m:val="̂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acc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</m:d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𝜏</m:t>
                          </m:r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</m:d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</m:oMath>
                  </m:oMathPara>
                </a14:m>
                <a:endParaRPr lang="fr-FR" b="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𝝉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)⋅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)=</m:t>
                    </m:r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d>
                              <m:d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fr-FR" dirty="0">
                    <a:sym typeface="Wingdings" panose="05000000000000000000" pitchFamily="2" charset="2"/>
                  </a:rPr>
                  <a:t> Richardson</a:t>
                </a:r>
                <a:endParaRPr lang="fr-FR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7C895B-3A0C-A3CA-5023-BFFA2FC08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840" y="4663440"/>
                <a:ext cx="5019040" cy="1392754"/>
              </a:xfrm>
              <a:prstGeom prst="rect">
                <a:avLst/>
              </a:prstGeom>
              <a:blipFill>
                <a:blip r:embed="rId3"/>
                <a:stretch>
                  <a:fillRect b="-43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FCD15E03-2561-D114-D6C0-2F72FD55AF71}"/>
              </a:ext>
            </a:extLst>
          </p:cNvPr>
          <p:cNvSpPr txBox="1"/>
          <p:nvPr/>
        </p:nvSpPr>
        <p:spPr>
          <a:xfrm>
            <a:off x="6694714" y="2648686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dérivation numérique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53EB843C-89A7-8C0B-A456-D4361968A1B4}"/>
              </a:ext>
            </a:extLst>
          </p:cNvPr>
          <p:cNvCxnSpPr>
            <a:endCxn id="2" idx="1"/>
          </p:cNvCxnSpPr>
          <p:nvPr/>
        </p:nvCxnSpPr>
        <p:spPr>
          <a:xfrm>
            <a:off x="5943600" y="2438400"/>
            <a:ext cx="751114" cy="533452"/>
          </a:xfrm>
          <a:prstGeom prst="bentConnector3">
            <a:avLst>
              <a:gd name="adj1" fmla="val 217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785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</Words>
  <Application>Microsoft Office PowerPoint</Application>
  <PresentationFormat>Widescreen</PresentationFormat>
  <Paragraphs>49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CMU Sans Serif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Adrien Vet</dc:creator>
  <cp:lastModifiedBy>Adrien Vet</cp:lastModifiedBy>
  <cp:revision>4</cp:revision>
  <dcterms:created xsi:type="dcterms:W3CDTF">2025-10-13T13:40:47Z</dcterms:created>
  <dcterms:modified xsi:type="dcterms:W3CDTF">2025-10-14T06:57:08Z</dcterms:modified>
</cp:coreProperties>
</file>